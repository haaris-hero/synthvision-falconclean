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10287000" cx="18288000"/>
  <p:notesSz cx="6858000" cy="9144000"/>
  <p:embeddedFontLst>
    <p:embeddedFont>
      <p:font typeface="Bebas Neue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BebasNeue-regular.fnt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b="1"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406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406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3pPr>
            <a:lvl4pPr indent="-406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–"/>
              <a:defRPr sz="2800"/>
            </a:lvl4pPr>
            <a:lvl5pPr indent="-406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»"/>
              <a:defRPr sz="2800"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3" type="body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5" name="Google Shape;45;p10"/>
          <p:cNvSpPr/>
          <p:nvPr>
            <p:ph idx="2" type="pic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 rot="5400000">
            <a:off x="2309018" y="-251618"/>
            <a:ext cx="4525964" cy="8229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type="title"/>
          </p:nvPr>
        </p:nvSpPr>
        <p:spPr>
          <a:xfrm rot="5400000">
            <a:off x="4732337" y="2171700"/>
            <a:ext cx="5851526" cy="2057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" type="body"/>
          </p:nvPr>
        </p:nvSpPr>
        <p:spPr>
          <a:xfrm rot="5400000">
            <a:off x="541337" y="190500"/>
            <a:ext cx="5851526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/>
        </p:nvSpPr>
        <p:spPr>
          <a:xfrm>
            <a:off x="2648250" y="2225525"/>
            <a:ext cx="14522400" cy="3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900">
                <a:solidFill>
                  <a:srgbClr val="FFFFFF"/>
                </a:solidFill>
              </a:rPr>
              <a:t>FalconClean</a:t>
            </a:r>
            <a:endParaRPr b="1" sz="129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900">
                <a:solidFill>
                  <a:srgbClr val="FFFFFF"/>
                </a:solidFill>
              </a:rPr>
              <a:t>Interactive Dataset Curator for Duality AI Synthetic Data</a:t>
            </a:r>
            <a:endParaRPr b="1" sz="39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2900"/>
              <a:buFont typeface="Arial"/>
              <a:buNone/>
            </a:pPr>
            <a:r>
              <a:t/>
            </a:r>
            <a:endParaRPr b="1" sz="3900">
              <a:solidFill>
                <a:srgbClr val="FFFFFF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721323" y="6105950"/>
            <a:ext cx="13833900" cy="14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Trebuchet MS"/>
              <a:buNone/>
            </a:pPr>
            <a:r>
              <a:rPr b="0" i="0" lang="en-US" sz="3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TEAM NAME: </a:t>
            </a:r>
            <a:r>
              <a:rPr lang="en-US" sz="39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SynthVision</a:t>
            </a:r>
            <a:endParaRPr sz="39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Trebuchet MS"/>
              <a:buNone/>
            </a:pPr>
            <a:r>
              <a:rPr b="0" i="0" lang="en-US" sz="3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THEME/TRACK: </a:t>
            </a:r>
            <a:r>
              <a:rPr lang="en-US" sz="39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Duality AI (AI/ML)</a:t>
            </a:r>
            <a:endParaRPr/>
          </a:p>
        </p:txBody>
      </p:sp>
      <p:pic>
        <p:nvPicPr>
          <p:cNvPr descr="IMG_0124.png" id="62" name="Google Shape;6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41199" y="203473"/>
            <a:ext cx="1232756" cy="1207469"/>
          </a:xfrm>
          <a:prstGeom prst="rect">
            <a:avLst/>
          </a:prstGeom>
          <a:noFill/>
          <a:ln>
            <a:noFill/>
          </a:ln>
          <a:effectLst>
            <a:outerShdw blurRad="355600" rotWithShape="0">
              <a:srgbClr val="000000">
                <a:alpha val="74901"/>
              </a:srgbClr>
            </a:outerShdw>
          </a:effectLst>
        </p:spPr>
      </p:pic>
      <p:pic>
        <p:nvPicPr>
          <p:cNvPr descr="IMG_0123-removebg-preview.png" id="63" name="Google Shape;6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653" y="-397618"/>
            <a:ext cx="2474590" cy="1978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812800" y="2132116"/>
            <a:ext cx="13231151" cy="1406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7"/>
              </a:buClr>
              <a:buSzPts val="9900"/>
              <a:buFont typeface="Arial"/>
              <a:buNone/>
            </a:pPr>
            <a:r>
              <a:rPr b="1" i="0" lang="en-US" sz="9900" u="none" cap="none" strike="noStrike">
                <a:solidFill>
                  <a:srgbClr val="F8F6F7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862325" y="3772075"/>
            <a:ext cx="15883200" cy="5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Current Pain Points in Duality AI Workflow</a:t>
            </a:r>
            <a:endParaRPr b="1" sz="33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9100" lvl="0" marL="457200" rtl="0" algn="l">
              <a:spcBef>
                <a:spcPts val="1200"/>
              </a:spcBef>
              <a:spcAft>
                <a:spcPts val="0"/>
              </a:spcAft>
              <a:buClr>
                <a:srgbClr val="F8F6F7"/>
              </a:buClr>
              <a:buSzPts val="3000"/>
              <a:buFont typeface="Trebuchet MS"/>
              <a:buChar char="●"/>
            </a:pPr>
            <a:r>
              <a:rPr lang="en-US" sz="30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Manual download, rename, and upload of output.zip takes 10-20 minutes per session.</a:t>
            </a:r>
            <a:endParaRPr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8F6F7"/>
              </a:buClr>
              <a:buSzPts val="3000"/>
              <a:buFont typeface="Trebuchet MS"/>
              <a:buChar char="●"/>
            </a:pPr>
            <a:r>
              <a:rPr lang="en-US" sz="30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Generated images often include low-quality, duplicate, or mislabeled samples.</a:t>
            </a:r>
            <a:endParaRPr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8F6F7"/>
              </a:buClr>
              <a:buSzPts val="3000"/>
              <a:buFont typeface="Trebuchet MS"/>
              <a:buChar char="●"/>
            </a:pPr>
            <a:r>
              <a:rPr lang="en-US" sz="30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Quick visualization of bounding boxes before training is difficult.</a:t>
            </a:r>
            <a:endParaRPr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8F6F7"/>
              </a:buClr>
              <a:buSzPts val="3000"/>
              <a:buFont typeface="Trebuchet MS"/>
              <a:buChar char="●"/>
            </a:pPr>
            <a:r>
              <a:rPr lang="en-US" sz="30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Merging multiple sessions is tedious (duplicate filenames, train/val splits reset numbering).</a:t>
            </a:r>
            <a:endParaRPr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8F6F7"/>
              </a:buClr>
              <a:buSzPts val="3000"/>
              <a:buFont typeface="Trebuchet MS"/>
              <a:buChar char="●"/>
            </a:pPr>
            <a:r>
              <a:rPr lang="en-US" sz="30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Sharing and collaboration on curated datasets is not easy.</a:t>
            </a:r>
            <a:endParaRPr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8F6F7"/>
              </a:buClr>
              <a:buSzPts val="3000"/>
              <a:buFont typeface="Trebuchet MS"/>
              <a:buChar char="●"/>
            </a:pPr>
            <a:r>
              <a:rPr lang="en-US" sz="30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Top performers spend hours on data wrangling instead of modeling.</a:t>
            </a:r>
            <a:endParaRPr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Result: Severely limits experimentation speed and leaderboard performance.</a:t>
            </a:r>
            <a:endParaRPr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IMG_0123-removebg-preview.png" id="70" name="Google Shape;7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653" y="-397618"/>
            <a:ext cx="2474590" cy="19787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_0124.png" id="71" name="Google Shape;7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541199" y="203473"/>
            <a:ext cx="1232756" cy="1207469"/>
          </a:xfrm>
          <a:prstGeom prst="rect">
            <a:avLst/>
          </a:prstGeom>
          <a:noFill/>
          <a:ln>
            <a:noFill/>
          </a:ln>
          <a:effectLst>
            <a:outerShdw blurRad="355600" rotWithShape="0">
              <a:srgbClr val="000000">
                <a:alpha val="74901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_0124.png" id="76" name="Google Shape;7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41199" y="203473"/>
            <a:ext cx="1232756" cy="1207469"/>
          </a:xfrm>
          <a:prstGeom prst="rect">
            <a:avLst/>
          </a:prstGeom>
          <a:noFill/>
          <a:ln>
            <a:noFill/>
          </a:ln>
          <a:effectLst>
            <a:outerShdw blurRad="355600" rotWithShape="0">
              <a:srgbClr val="000000">
                <a:alpha val="74901"/>
              </a:srgbClr>
            </a:outerShdw>
          </a:effectLst>
        </p:spPr>
      </p:pic>
      <p:pic>
        <p:nvPicPr>
          <p:cNvPr descr="IMG_0123-removebg-preview.png" id="77" name="Google Shape;7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653" y="-397618"/>
            <a:ext cx="2474590" cy="197878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800100" y="2132116"/>
            <a:ext cx="13231151" cy="1406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7"/>
              </a:buClr>
              <a:buSzPts val="9900"/>
              <a:buFont typeface="Arial"/>
              <a:buNone/>
            </a:pPr>
            <a:r>
              <a:rPr b="1" i="0" lang="en-US" sz="9900" u="none" cap="none" strike="noStrike">
                <a:solidFill>
                  <a:srgbClr val="F8F6F7"/>
                </a:solidFill>
                <a:latin typeface="Arial"/>
                <a:ea typeface="Arial"/>
                <a:cs typeface="Arial"/>
                <a:sym typeface="Arial"/>
              </a:rPr>
              <a:t>Proposed Solution </a:t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862325" y="3772075"/>
            <a:ext cx="15854700" cy="56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FalconClean – Interactive Dataset Pipeline for Duality AI</a:t>
            </a:r>
            <a:endParaRPr b="1"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A web + notebook hybrid tool to quickly process Falcon sessions:</a:t>
            </a:r>
            <a:endParaRPr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9100" lvl="0" marL="457200" rtl="0" algn="l">
              <a:spcBef>
                <a:spcPts val="1200"/>
              </a:spcBef>
              <a:spcAft>
                <a:spcPts val="0"/>
              </a:spcAft>
              <a:buClr>
                <a:srgbClr val="F8F6F7"/>
              </a:buClr>
              <a:buSzPts val="3000"/>
              <a:buFont typeface="Trebuchet MS"/>
              <a:buAutoNum type="arabicPeriod"/>
            </a:pPr>
            <a:r>
              <a:rPr lang="en-US" sz="30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Instant download via Google Storage URL (3–5 sec).</a:t>
            </a:r>
            <a:endParaRPr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8F6F7"/>
              </a:buClr>
              <a:buSzPts val="3000"/>
              <a:buFont typeface="Trebuchet MS"/>
              <a:buAutoNum type="arabicPeriod"/>
            </a:pPr>
            <a:r>
              <a:rPr lang="en-US" sz="30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Interactive UI for visual image pruning (Accept/Reject with bounding box overlay).</a:t>
            </a:r>
            <a:endParaRPr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8F6F7"/>
              </a:buClr>
              <a:buSzPts val="3000"/>
              <a:buFont typeface="Trebuchet MS"/>
              <a:buAutoNum type="arabicPeriod"/>
            </a:pPr>
            <a:r>
              <a:rPr lang="en-US" sz="30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Auto-merge unlimited sessions with unique prefixing and proper train/val handling.</a:t>
            </a:r>
            <a:endParaRPr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8F6F7"/>
              </a:buClr>
              <a:buSzPts val="3000"/>
              <a:buFont typeface="Trebuchet MS"/>
              <a:buAutoNum type="arabicPeriod"/>
            </a:pPr>
            <a:r>
              <a:rPr lang="en-US" sz="30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Visualize statistics (class distribution, bbox sizes, image quality).</a:t>
            </a:r>
            <a:endParaRPr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8F6F7"/>
              </a:buClr>
              <a:buSzPts val="3000"/>
              <a:buFont typeface="Trebuchet MS"/>
              <a:buAutoNum type="arabicPeriod"/>
            </a:pPr>
            <a:r>
              <a:rPr lang="en-US" sz="30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Export clean, ready-to-train dataset (YOLO format) or upload to Kaggle.</a:t>
            </a:r>
            <a:endParaRPr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8F6F7"/>
              </a:buClr>
              <a:buSzPts val="3000"/>
              <a:buFont typeface="Trebuchet MS"/>
              <a:buAutoNum type="arabicPeriod"/>
            </a:pPr>
            <a:r>
              <a:rPr lang="en-US" sz="30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Share curated dataset with a single link.</a:t>
            </a:r>
            <a:endParaRPr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Reduces hours of manual work to under 5 minutes.</a:t>
            </a:r>
            <a:endParaRPr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_0124.png" id="84" name="Google Shape;8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41199" y="203473"/>
            <a:ext cx="1232756" cy="1207469"/>
          </a:xfrm>
          <a:prstGeom prst="rect">
            <a:avLst/>
          </a:prstGeom>
          <a:noFill/>
          <a:ln>
            <a:noFill/>
          </a:ln>
          <a:effectLst>
            <a:outerShdw blurRad="355600" rotWithShape="0">
              <a:srgbClr val="000000">
                <a:alpha val="74901"/>
              </a:srgbClr>
            </a:outerShdw>
          </a:effectLst>
        </p:spPr>
      </p:pic>
      <p:pic>
        <p:nvPicPr>
          <p:cNvPr descr="IMG_0123-removebg-preview.png" id="85" name="Google Shape;8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653" y="-397618"/>
            <a:ext cx="2474590" cy="197878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800100" y="2132116"/>
            <a:ext cx="13231151" cy="1406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7"/>
              </a:buClr>
              <a:buSzPts val="9900"/>
              <a:buFont typeface="Arial"/>
              <a:buNone/>
            </a:pPr>
            <a:r>
              <a:rPr b="1" i="0" lang="en-US" sz="9900" u="none" cap="none" strike="noStrike">
                <a:solidFill>
                  <a:srgbClr val="F8F6F7"/>
                </a:solidFill>
                <a:latin typeface="Arial"/>
                <a:ea typeface="Arial"/>
                <a:cs typeface="Arial"/>
                <a:sym typeface="Arial"/>
              </a:rPr>
              <a:t>Tech Stack</a:t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862325" y="3772075"/>
            <a:ext cx="166482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Frontend / Interactive UI: Streamlit (primary) + ipywidgets (Colab backup)</a:t>
            </a:r>
            <a:endParaRPr sz="35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Core Libraries: Python, OpenCV, Albumentations, Pandas, Plotly</a:t>
            </a:r>
            <a:endParaRPr sz="35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Bounding Box Visualization: Custom YOLO drawer (multi-class/color support)</a:t>
            </a:r>
            <a:endParaRPr sz="35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Downloading: requests + Google Storage public URLs</a:t>
            </a:r>
            <a:endParaRPr sz="35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Merging &amp; Renaming Logic: Custom prefix-based system (set_001_, set_002_, etc.)</a:t>
            </a:r>
            <a:endParaRPr sz="35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Deployment Options: Streamlit Community Cloud (free), Google Colab, HuggingFace Spaces</a:t>
            </a:r>
            <a:endParaRPr sz="35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Optional Future: FastAPI backend + user accounts</a:t>
            </a:r>
            <a:endParaRPr sz="35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_0124.png" id="92" name="Google Shape;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41199" y="203473"/>
            <a:ext cx="1232756" cy="1207469"/>
          </a:xfrm>
          <a:prstGeom prst="rect">
            <a:avLst/>
          </a:prstGeom>
          <a:noFill/>
          <a:ln>
            <a:noFill/>
          </a:ln>
          <a:effectLst>
            <a:outerShdw blurRad="355600" rotWithShape="0">
              <a:srgbClr val="000000">
                <a:alpha val="74901"/>
              </a:srgbClr>
            </a:outerShdw>
          </a:effectLst>
        </p:spPr>
      </p:pic>
      <p:pic>
        <p:nvPicPr>
          <p:cNvPr descr="IMG_0123-removebg-preview.png" id="93" name="Google Shape;9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653" y="-397618"/>
            <a:ext cx="2474590" cy="197878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/>
        </p:nvSpPr>
        <p:spPr>
          <a:xfrm>
            <a:off x="800100" y="2132116"/>
            <a:ext cx="16779483" cy="1406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7"/>
              </a:buClr>
              <a:buSzPts val="9900"/>
              <a:buFont typeface="Arial"/>
              <a:buNone/>
            </a:pPr>
            <a:r>
              <a:rPr b="1" i="0" lang="en-US" sz="9900" u="none" cap="none" strike="noStrike">
                <a:solidFill>
                  <a:srgbClr val="F8F6F7"/>
                </a:solidFill>
                <a:latin typeface="Arial"/>
                <a:ea typeface="Arial"/>
                <a:cs typeface="Arial"/>
                <a:sym typeface="Arial"/>
              </a:rPr>
              <a:t>Expected Outcome / Impact</a:t>
            </a:r>
            <a:endParaRPr/>
          </a:p>
        </p:txBody>
      </p:sp>
      <p:sp>
        <p:nvSpPr>
          <p:cNvPr id="95" name="Google Shape;95;p17"/>
          <p:cNvSpPr txBox="1"/>
          <p:nvPr/>
        </p:nvSpPr>
        <p:spPr>
          <a:xfrm>
            <a:off x="862325" y="3772075"/>
            <a:ext cx="16449900" cy="4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Why This Stands Out</a:t>
            </a:r>
            <a:endParaRPr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9100" lvl="0" marL="457200" rtl="0" algn="l">
              <a:spcBef>
                <a:spcPts val="1200"/>
              </a:spcBef>
              <a:spcAft>
                <a:spcPts val="0"/>
              </a:spcAft>
              <a:buClr>
                <a:srgbClr val="F8F6F7"/>
              </a:buClr>
              <a:buSzPts val="3000"/>
              <a:buFont typeface="Trebuchet MS"/>
              <a:buChar char="●"/>
            </a:pPr>
            <a:r>
              <a:rPr lang="en-US" sz="30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Accelerates dataset creation 10x–20x for Duality/Falcon users.</a:t>
            </a:r>
            <a:endParaRPr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8F6F7"/>
              </a:buClr>
              <a:buSzPts val="3000"/>
              <a:buFont typeface="Trebuchet MS"/>
              <a:buChar char="●"/>
            </a:pPr>
            <a:r>
              <a:rPr lang="en-US" sz="30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Proven to directly boost leaderboard rankings.</a:t>
            </a:r>
            <a:endParaRPr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8F6F7"/>
              </a:buClr>
              <a:buSzPts val="3000"/>
              <a:buFont typeface="Trebuchet MS"/>
              <a:buChar char="●"/>
            </a:pPr>
            <a:r>
              <a:rPr lang="en-US" sz="30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Enables easy collaboration via URL sharing of curated 10k+ image datasets.</a:t>
            </a:r>
            <a:endParaRPr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8F6F7"/>
              </a:buClr>
              <a:buSzPts val="3000"/>
              <a:buFont typeface="Trebuchet MS"/>
              <a:buChar char="●"/>
            </a:pPr>
            <a:r>
              <a:rPr lang="en-US" sz="30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The first visual pruning tool specific to Falcon's output.</a:t>
            </a:r>
            <a:endParaRPr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8F6F7"/>
              </a:buClr>
              <a:buSzPts val="3000"/>
              <a:buFont typeface="Trebuchet MS"/>
              <a:buChar char="●"/>
            </a:pPr>
            <a:r>
              <a:rPr lang="en-US" sz="30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Open-source for quick adoption in Duality Discord &amp; Kaggle.</a:t>
            </a:r>
            <a:endParaRPr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8F6F7"/>
              </a:buClr>
              <a:buSzPts val="3000"/>
              <a:buFont typeface="Trebuchet MS"/>
              <a:buChar char="●"/>
            </a:pPr>
            <a:r>
              <a:rPr lang="en-US" sz="30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Potential for official Duality AI recommendation or platform integration.</a:t>
            </a:r>
            <a:endParaRPr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8F6F7"/>
              </a:buClr>
              <a:buSzPts val="3000"/>
              <a:buFont typeface="Trebuchet MS"/>
              <a:buChar char="●"/>
            </a:pPr>
            <a:r>
              <a:rPr lang="en-US" sz="3000">
                <a:solidFill>
                  <a:srgbClr val="F8F6F7"/>
                </a:solidFill>
                <a:latin typeface="Trebuchet MS"/>
                <a:ea typeface="Trebuchet MS"/>
                <a:cs typeface="Trebuchet MS"/>
                <a:sym typeface="Trebuchet MS"/>
              </a:rPr>
              <a:t>Significant real-world impact on synthetic data quality for robotics and autonomous systems.</a:t>
            </a:r>
            <a:endParaRPr sz="3000">
              <a:solidFill>
                <a:srgbClr val="F8F6F7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/>
        </p:nvSpPr>
        <p:spPr>
          <a:xfrm>
            <a:off x="4724400" y="196101"/>
            <a:ext cx="8001000" cy="851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Details</a:t>
            </a:r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2056474" y="1611425"/>
            <a:ext cx="105231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ebas Neue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Team Lead: Muhammad Haaris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ebas Neue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College Name: </a:t>
            </a:r>
            <a:r>
              <a:rPr lang="en-US" sz="28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Institute of business administration (IBA) karachi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ebas Neue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Email: m.haarisasif@gmail.com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ebas Neue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Phone:</a:t>
            </a:r>
            <a:r>
              <a:rPr lang="en-US" sz="28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+92 3362888038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ebas Neue"/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10981731" y="1645284"/>
            <a:ext cx="696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ebas Neue"/>
              <a:buNone/>
            </a:pPr>
            <a:r>
              <a:t/>
            </a:r>
            <a:endParaRPr/>
          </a:p>
        </p:txBody>
      </p:sp>
      <p:pic>
        <p:nvPicPr>
          <p:cNvPr descr="IMG_0124.png" id="103" name="Google Shape;10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41199" y="203473"/>
            <a:ext cx="1232756" cy="1207469"/>
          </a:xfrm>
          <a:prstGeom prst="rect">
            <a:avLst/>
          </a:prstGeom>
          <a:noFill/>
          <a:ln>
            <a:noFill/>
          </a:ln>
          <a:effectLst>
            <a:outerShdw blurRad="355600" rotWithShape="0">
              <a:srgbClr val="000000">
                <a:alpha val="74901"/>
              </a:srgbClr>
            </a:outerShdw>
          </a:effectLst>
        </p:spPr>
      </p:pic>
      <p:pic>
        <p:nvPicPr>
          <p:cNvPr descr="IMG_0123-removebg-preview.png" id="104" name="Google Shape;10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653" y="-397618"/>
            <a:ext cx="2474590" cy="1978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